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18288000" cy="10287000"/>
  <p:notesSz cx="6858000" cy="9144000"/>
  <p:embeddedFontLst>
    <p:embeddedFont>
      <p:font typeface="Arial Nova Bold" panose="020B0604020202020204" charset="0"/>
      <p:regular r:id="rId13"/>
    </p:embeddedFont>
    <p:embeddedFont>
      <p:font typeface="Arial Nova Light" panose="020B0304020202020204" pitchFamily="34" charset="0"/>
      <p:regular r:id="rId14"/>
    </p:embeddedFont>
    <p:embeddedFont>
      <p:font typeface="DM Sans Bold" panose="020B0604020202020204" charset="0"/>
      <p:regular r:id="rId15"/>
    </p:embeddedFont>
    <p:embeddedFont>
      <p:font typeface="Montserrat Light" panose="00000400000000000000" pitchFamily="50" charset="0"/>
      <p:regular r:id="rId16"/>
      <p:italic r:id="rId17"/>
    </p:embeddedFont>
    <p:embeddedFont>
      <p:font typeface="Mukti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7" d="100"/>
          <a:sy n="77" d="100"/>
        </p:scale>
        <p:origin x="70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B72F0-2D3B-4E4B-9412-AB220364E1D6}" type="datetimeFigureOut">
              <a:rPr lang="da-DK" smtClean="0"/>
              <a:t>27-08-2026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1B8E3-4FB4-40B1-90A1-FCC9343B1C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77623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92074-0EDB-47F7-9AA2-D9E787D6AEDC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81183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10" Type="http://schemas.openxmlformats.org/officeDocument/2006/relationships/image" Target="../media/image8.jpe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7" Type="http://schemas.openxmlformats.org/officeDocument/2006/relationships/image" Target="../media/image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hyperlink" Target="https://studerende.eaaa.dk/uddannelse/rejs-ud" TargetMode="External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piqsels.com/da/search?q=navigation" TargetMode="External"/><Relationship Id="rId5" Type="http://schemas.openxmlformats.org/officeDocument/2006/relationships/image" Target="../media/image2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392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9248775" y="9244012"/>
            <a:ext cx="9912558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TextBox 4"/>
          <p:cNvSpPr txBox="1"/>
          <p:nvPr/>
        </p:nvSpPr>
        <p:spPr>
          <a:xfrm>
            <a:off x="1326352" y="9596713"/>
            <a:ext cx="4237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JANUARY 2030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-950391" y="-51793"/>
            <a:ext cx="11044854" cy="10390585"/>
          </a:xfrm>
          <a:custGeom>
            <a:avLst/>
            <a:gdLst/>
            <a:ahLst/>
            <a:cxnLst/>
            <a:rect l="l" t="t" r="r" b="b"/>
            <a:pathLst>
              <a:path w="11044854" h="10390585">
                <a:moveTo>
                  <a:pt x="0" y="0"/>
                </a:moveTo>
                <a:lnTo>
                  <a:pt x="11044853" y="0"/>
                </a:lnTo>
                <a:lnTo>
                  <a:pt x="11044853" y="10390586"/>
                </a:lnTo>
                <a:lnTo>
                  <a:pt x="0" y="10390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85" r="-40253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9" name="Freeform 9"/>
          <p:cNvSpPr/>
          <p:nvPr/>
        </p:nvSpPr>
        <p:spPr>
          <a:xfrm>
            <a:off x="15999898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8" y="0"/>
                </a:lnTo>
                <a:lnTo>
                  <a:pt x="2152548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0" name="TextBox 10"/>
          <p:cNvSpPr txBox="1"/>
          <p:nvPr/>
        </p:nvSpPr>
        <p:spPr>
          <a:xfrm>
            <a:off x="12597760" y="7137988"/>
            <a:ext cx="466154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spc="-197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Velkommen til!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127120" y="1304704"/>
            <a:ext cx="7642065" cy="1185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20"/>
              </a:lnSpc>
            </a:pPr>
            <a:r>
              <a:rPr lang="en-US" sz="5816" spc="-436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EN HILSEN FRA STUDIEVEJLEDNINGEN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315343" y="9253537"/>
            <a:ext cx="10585649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>
            <a:off x="8315343" y="1033462"/>
            <a:ext cx="10585649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4" name="Group 4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522482" y="1033463"/>
            <a:ext cx="8287671" cy="8224838"/>
          </a:xfrm>
          <a:custGeom>
            <a:avLst/>
            <a:gdLst/>
            <a:ahLst/>
            <a:cxnLst/>
            <a:rect l="l" t="t" r="r" b="b"/>
            <a:pathLst>
              <a:path w="8287671" h="8224838">
                <a:moveTo>
                  <a:pt x="0" y="0"/>
                </a:moveTo>
                <a:lnTo>
                  <a:pt x="8287671" y="0"/>
                </a:lnTo>
                <a:lnTo>
                  <a:pt x="8287671" y="8224837"/>
                </a:lnTo>
                <a:lnTo>
                  <a:pt x="0" y="82248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9000"/>
            </a:blip>
            <a:stretch>
              <a:fillRect l="-19796" r="-33360" b="-2820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8" name="Freeform 8"/>
          <p:cNvSpPr/>
          <p:nvPr/>
        </p:nvSpPr>
        <p:spPr>
          <a:xfrm>
            <a:off x="16021787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9" name="TextBox 9"/>
          <p:cNvSpPr txBox="1"/>
          <p:nvPr/>
        </p:nvSpPr>
        <p:spPr>
          <a:xfrm>
            <a:off x="9656736" y="1883244"/>
            <a:ext cx="8631264" cy="679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12"/>
              </a:lnSpc>
            </a:pPr>
            <a:r>
              <a:rPr lang="en-US" sz="6200" spc="-13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HER FINDER DU HJÆLP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01831" y="3349460"/>
            <a:ext cx="4256198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99"/>
              </a:lnSpc>
              <a:spcBef>
                <a:spcPct val="0"/>
              </a:spcBef>
            </a:pPr>
            <a:r>
              <a:rPr lang="en-US" sz="3999" spc="-21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Studievejledledningen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38116" y="4494641"/>
            <a:ext cx="3759945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99"/>
              </a:lnSpc>
              <a:spcBef>
                <a:spcPct val="0"/>
              </a:spcBef>
            </a:pPr>
            <a:r>
              <a:rPr lang="en-US" sz="3999" spc="-21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SU-vejledningen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76877" y="5640816"/>
            <a:ext cx="408242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399"/>
              </a:lnSpc>
              <a:spcBef>
                <a:spcPct val="0"/>
              </a:spcBef>
            </a:pPr>
            <a:r>
              <a:rPr lang="en-US" sz="3999" spc="-21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Internationalt kontor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497131" y="6636275"/>
            <a:ext cx="3759945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79"/>
              </a:lnSpc>
              <a:spcBef>
                <a:spcPct val="0"/>
              </a:spcBef>
            </a:pPr>
            <a:r>
              <a:rPr lang="en-US" sz="2799" b="1" spc="-153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Regler og v</a:t>
            </a:r>
            <a:r>
              <a:rPr lang="en-US" sz="2799" b="1" u="none" strike="noStrike" spc="-153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iden</a:t>
            </a:r>
            <a:r>
              <a:rPr lang="en-US" sz="2799" u="none" strike="noStrike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: studerende.eaaa.dk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97766" y="7958621"/>
            <a:ext cx="3759945" cy="7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079"/>
              </a:lnSpc>
            </a:pPr>
            <a:r>
              <a:rPr lang="en-US" sz="2799" b="1" spc="-153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Løbende information:</a:t>
            </a:r>
          </a:p>
          <a:p>
            <a:pPr marL="0" lvl="0" indent="0" algn="r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Canvas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99355" y="314960"/>
            <a:ext cx="4237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HAR DU BRUG FOR HJÆLP?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763280" y="9258300"/>
            <a:ext cx="19814559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-462152" y="1033462"/>
            <a:ext cx="19212305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>
            <a:off x="-462152" y="2924738"/>
            <a:ext cx="20261153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" name="AutoShape 5"/>
          <p:cNvSpPr/>
          <p:nvPr/>
        </p:nvSpPr>
        <p:spPr>
          <a:xfrm>
            <a:off x="-1364982" y="5418789"/>
            <a:ext cx="20115134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6" name="AutoShape 6"/>
          <p:cNvSpPr/>
          <p:nvPr/>
        </p:nvSpPr>
        <p:spPr>
          <a:xfrm flipV="1">
            <a:off x="4574381" y="2922357"/>
            <a:ext cx="0" cy="633356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7" name="AutoShape 7"/>
          <p:cNvSpPr/>
          <p:nvPr/>
        </p:nvSpPr>
        <p:spPr>
          <a:xfrm flipV="1">
            <a:off x="9144000" y="2922357"/>
            <a:ext cx="0" cy="633356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8" name="AutoShape 8"/>
          <p:cNvSpPr/>
          <p:nvPr/>
        </p:nvSpPr>
        <p:spPr>
          <a:xfrm flipV="1">
            <a:off x="13713619" y="2922357"/>
            <a:ext cx="0" cy="633356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9" name="Group 9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3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4719496" y="5436820"/>
            <a:ext cx="4292990" cy="3794053"/>
          </a:xfrm>
          <a:custGeom>
            <a:avLst/>
            <a:gdLst/>
            <a:ahLst/>
            <a:cxnLst/>
            <a:rect l="l" t="t" r="r" b="b"/>
            <a:pathLst>
              <a:path w="4292990" h="3794053">
                <a:moveTo>
                  <a:pt x="0" y="0"/>
                </a:moveTo>
                <a:lnTo>
                  <a:pt x="4292990" y="0"/>
                </a:lnTo>
                <a:lnTo>
                  <a:pt x="4292990" y="3794053"/>
                </a:lnTo>
                <a:lnTo>
                  <a:pt x="0" y="37940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 l="-17990" r="-14658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8" name="Freeform 18"/>
          <p:cNvSpPr/>
          <p:nvPr/>
        </p:nvSpPr>
        <p:spPr>
          <a:xfrm>
            <a:off x="156185" y="5407085"/>
            <a:ext cx="4289609" cy="3821443"/>
          </a:xfrm>
          <a:custGeom>
            <a:avLst/>
            <a:gdLst/>
            <a:ahLst/>
            <a:cxnLst/>
            <a:rect l="l" t="t" r="r" b="b"/>
            <a:pathLst>
              <a:path w="4289609" h="3821443">
                <a:moveTo>
                  <a:pt x="0" y="0"/>
                </a:moveTo>
                <a:lnTo>
                  <a:pt x="4289609" y="0"/>
                </a:lnTo>
                <a:lnTo>
                  <a:pt x="4289609" y="3821443"/>
                </a:lnTo>
                <a:lnTo>
                  <a:pt x="0" y="38214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 l="-4792" r="-12812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9" name="Freeform 19"/>
          <p:cNvSpPr/>
          <p:nvPr/>
        </p:nvSpPr>
        <p:spPr>
          <a:xfrm>
            <a:off x="15999619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8" y="0"/>
                </a:lnTo>
                <a:lnTo>
                  <a:pt x="2152548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0" name="TextBox 20"/>
          <p:cNvSpPr txBox="1"/>
          <p:nvPr/>
        </p:nvSpPr>
        <p:spPr>
          <a:xfrm>
            <a:off x="3412610" y="1674617"/>
            <a:ext cx="11462781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979176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STUDIEVEJLEDNINGEN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499355" y="314960"/>
            <a:ext cx="423717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DU KAN MØDE OS I STUDIEVEJLEDNINGEN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601940" y="3604250"/>
            <a:ext cx="279535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spc="-65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KURT RASMUSSEN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31131" y="3672334"/>
            <a:ext cx="2795357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-65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DORTE HEDEVANG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68232" y="3672195"/>
            <a:ext cx="3327445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-65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JENS BACH NIELSEN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320" y="3632824"/>
            <a:ext cx="4262947" cy="1028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-65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ANNA SKOUBOE ROESEN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813F7465-F131-3729-7D55-21C747D4E3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1082" b="4379"/>
          <a:stretch>
            <a:fillRect/>
          </a:stretch>
        </p:blipFill>
        <p:spPr>
          <a:xfrm>
            <a:off x="13895474" y="5430494"/>
            <a:ext cx="4141091" cy="3823044"/>
          </a:xfrm>
          <a:prstGeom prst="rect">
            <a:avLst/>
          </a:prstGeom>
        </p:spPr>
      </p:pic>
      <p:pic>
        <p:nvPicPr>
          <p:cNvPr id="17" name="Billede 16" descr="Et billede, der indeholder Ansigt, person, smil, tøj&#10;&#10;AI-genereret indhold kan være ukorrekt.">
            <a:extLst>
              <a:ext uri="{FF2B5EF4-FFF2-40B4-BE49-F238E27FC236}">
                <a16:creationId xmlns:a16="http://schemas.microsoft.com/office/drawing/2014/main" id="{4A7E7EE3-3D20-5D1F-FC98-FA3C34319D8D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57" r="19010"/>
          <a:stretch>
            <a:fillRect/>
          </a:stretch>
        </p:blipFill>
        <p:spPr>
          <a:xfrm>
            <a:off x="9392479" y="5436821"/>
            <a:ext cx="4141027" cy="3791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12992" y="9253537"/>
            <a:ext cx="12396242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-462152" y="1033462"/>
            <a:ext cx="19212305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>
            <a:off x="-462152" y="2924738"/>
            <a:ext cx="12245402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5" name="Group 5"/>
          <p:cNvGrpSpPr/>
          <p:nvPr/>
        </p:nvGrpSpPr>
        <p:grpSpPr>
          <a:xfrm>
            <a:off x="1447800" y="4161434"/>
            <a:ext cx="8580469" cy="1352248"/>
            <a:chOff x="0" y="0"/>
            <a:chExt cx="2611174" cy="3347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11174" cy="334755"/>
            </a:xfrm>
            <a:custGeom>
              <a:avLst/>
              <a:gdLst/>
              <a:ahLst/>
              <a:cxnLst/>
              <a:rect l="l" t="t" r="r" b="b"/>
              <a:pathLst>
                <a:path w="2611174" h="334755">
                  <a:moveTo>
                    <a:pt x="48654" y="0"/>
                  </a:moveTo>
                  <a:lnTo>
                    <a:pt x="2562521" y="0"/>
                  </a:lnTo>
                  <a:cubicBezTo>
                    <a:pt x="2589391" y="0"/>
                    <a:pt x="2611174" y="21783"/>
                    <a:pt x="2611174" y="48654"/>
                  </a:cubicBezTo>
                  <a:lnTo>
                    <a:pt x="2611174" y="286102"/>
                  </a:lnTo>
                  <a:cubicBezTo>
                    <a:pt x="2611174" y="312972"/>
                    <a:pt x="2589391" y="334755"/>
                    <a:pt x="2562521" y="334755"/>
                  </a:cubicBezTo>
                  <a:lnTo>
                    <a:pt x="48654" y="334755"/>
                  </a:lnTo>
                  <a:cubicBezTo>
                    <a:pt x="21783" y="334755"/>
                    <a:pt x="0" y="312972"/>
                    <a:pt x="0" y="286102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11174" cy="3728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39" dirty="0">
                  <a:solidFill>
                    <a:srgbClr val="979176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OPTAGELSE</a:t>
              </a:r>
            </a:p>
            <a:p>
              <a:pPr algn="ctr">
                <a:lnSpc>
                  <a:spcPts val="2520"/>
                </a:lnSpc>
              </a:pP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Afklaring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af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uddannelses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- og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karrierevalg</a:t>
              </a:r>
              <a:endParaRPr lang="en-US" sz="20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47800" y="7923457"/>
            <a:ext cx="8580469" cy="1076508"/>
            <a:chOff x="0" y="0"/>
            <a:chExt cx="2611174" cy="31835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11174" cy="318353"/>
            </a:xfrm>
            <a:custGeom>
              <a:avLst/>
              <a:gdLst/>
              <a:ahLst/>
              <a:cxnLst/>
              <a:rect l="l" t="t" r="r" b="b"/>
              <a:pathLst>
                <a:path w="2611174" h="318353">
                  <a:moveTo>
                    <a:pt x="48654" y="0"/>
                  </a:moveTo>
                  <a:lnTo>
                    <a:pt x="2562521" y="0"/>
                  </a:lnTo>
                  <a:cubicBezTo>
                    <a:pt x="2589391" y="0"/>
                    <a:pt x="2611174" y="21783"/>
                    <a:pt x="2611174" y="48654"/>
                  </a:cubicBezTo>
                  <a:lnTo>
                    <a:pt x="2611174" y="269699"/>
                  </a:lnTo>
                  <a:cubicBezTo>
                    <a:pt x="2611174" y="296570"/>
                    <a:pt x="2589391" y="318353"/>
                    <a:pt x="2562521" y="318353"/>
                  </a:cubicBezTo>
                  <a:lnTo>
                    <a:pt x="48654" y="318353"/>
                  </a:lnTo>
                  <a:cubicBezTo>
                    <a:pt x="21783" y="318353"/>
                    <a:pt x="0" y="296570"/>
                    <a:pt x="0" y="269699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11174" cy="3564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39" dirty="0">
                  <a:solidFill>
                    <a:srgbClr val="979176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KARRIEREVEJLEDNING</a:t>
              </a:r>
            </a:p>
            <a:p>
              <a:pPr algn="ctr">
                <a:lnSpc>
                  <a:spcPts val="2520"/>
                </a:lnSpc>
              </a:pP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Studiejob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,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praktik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, job- og videreuddannelse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4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47799" y="5691113"/>
            <a:ext cx="8580469" cy="2039092"/>
            <a:chOff x="0" y="-64230"/>
            <a:chExt cx="2611174" cy="643365"/>
          </a:xfrm>
        </p:grpSpPr>
        <p:sp>
          <p:nvSpPr>
            <p:cNvPr id="15" name="Freeform 15"/>
            <p:cNvSpPr/>
            <p:nvPr/>
          </p:nvSpPr>
          <p:spPr>
            <a:xfrm>
              <a:off x="0" y="-45933"/>
              <a:ext cx="2611174" cy="605265"/>
            </a:xfrm>
            <a:custGeom>
              <a:avLst/>
              <a:gdLst/>
              <a:ahLst/>
              <a:cxnLst/>
              <a:rect l="l" t="t" r="r" b="b"/>
              <a:pathLst>
                <a:path w="2611174" h="605265">
                  <a:moveTo>
                    <a:pt x="48654" y="0"/>
                  </a:moveTo>
                  <a:lnTo>
                    <a:pt x="2562521" y="0"/>
                  </a:lnTo>
                  <a:cubicBezTo>
                    <a:pt x="2589391" y="0"/>
                    <a:pt x="2611174" y="21783"/>
                    <a:pt x="2611174" y="48654"/>
                  </a:cubicBezTo>
                  <a:lnTo>
                    <a:pt x="2611174" y="556612"/>
                  </a:lnTo>
                  <a:cubicBezTo>
                    <a:pt x="2611174" y="583482"/>
                    <a:pt x="2589391" y="605265"/>
                    <a:pt x="2562521" y="605265"/>
                  </a:cubicBezTo>
                  <a:lnTo>
                    <a:pt x="48654" y="605265"/>
                  </a:lnTo>
                  <a:cubicBezTo>
                    <a:pt x="21783" y="605265"/>
                    <a:pt x="0" y="583482"/>
                    <a:pt x="0" y="556612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4230"/>
              <a:ext cx="2611174" cy="6433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39" dirty="0">
                  <a:solidFill>
                    <a:srgbClr val="979176"/>
                  </a:solidFill>
                  <a:latin typeface="Arial Nova Bold"/>
                  <a:ea typeface="Arial Nova Bold"/>
                  <a:cs typeface="Arial Nova Bold"/>
                  <a:sym typeface="Arial Nova Bold"/>
                </a:rPr>
                <a:t>UDDANNELSESFORLØB</a:t>
              </a:r>
            </a:p>
            <a:p>
              <a:pPr algn="ctr">
                <a:lnSpc>
                  <a:spcPts val="2520"/>
                </a:lnSpc>
              </a:pP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Motivation og engagement</a:t>
              </a:r>
            </a:p>
            <a:p>
              <a:pPr algn="ctr">
                <a:lnSpc>
                  <a:spcPts val="2520"/>
                </a:lnSpc>
              </a:pP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Studieteknik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/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eksamenstræning</a:t>
              </a:r>
              <a:endParaRPr lang="en-US" sz="20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Valg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og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muligheder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undervejs</a:t>
              </a:r>
              <a:endParaRPr lang="en-US" sz="20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  <a:p>
              <a:pPr algn="ctr">
                <a:lnSpc>
                  <a:spcPts val="2520"/>
                </a:lnSpc>
              </a:pP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Vejledning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/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støtte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til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specifikke</a:t>
              </a: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  <a:r>
                <a:rPr lang="en-US" sz="2000" spc="-39" dirty="0" err="1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udfordringer</a:t>
              </a:r>
              <a:endParaRPr lang="en-US" sz="20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11783250" y="2924738"/>
            <a:ext cx="5717908" cy="6328799"/>
          </a:xfrm>
          <a:custGeom>
            <a:avLst/>
            <a:gdLst/>
            <a:ahLst/>
            <a:cxnLst/>
            <a:rect l="l" t="t" r="r" b="b"/>
            <a:pathLst>
              <a:path w="5717908" h="6328799">
                <a:moveTo>
                  <a:pt x="0" y="0"/>
                </a:moveTo>
                <a:lnTo>
                  <a:pt x="5717908" y="0"/>
                </a:lnTo>
                <a:lnTo>
                  <a:pt x="5717908" y="6328799"/>
                </a:lnTo>
                <a:lnTo>
                  <a:pt x="0" y="6328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7707" b="-17707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8" name="Freeform 18"/>
          <p:cNvSpPr/>
          <p:nvPr/>
        </p:nvSpPr>
        <p:spPr>
          <a:xfrm>
            <a:off x="15956337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8" y="0"/>
                </a:lnTo>
                <a:lnTo>
                  <a:pt x="2152548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9" name="Freeform 19"/>
          <p:cNvSpPr/>
          <p:nvPr/>
        </p:nvSpPr>
        <p:spPr>
          <a:xfrm>
            <a:off x="10904662" y="2924738"/>
            <a:ext cx="6831866" cy="6328799"/>
          </a:xfrm>
          <a:custGeom>
            <a:avLst/>
            <a:gdLst/>
            <a:ahLst/>
            <a:cxnLst/>
            <a:rect l="l" t="t" r="r" b="b"/>
            <a:pathLst>
              <a:path w="6831866" h="6328799">
                <a:moveTo>
                  <a:pt x="0" y="0"/>
                </a:moveTo>
                <a:lnTo>
                  <a:pt x="6831866" y="0"/>
                </a:lnTo>
                <a:lnTo>
                  <a:pt x="6831866" y="6328799"/>
                </a:lnTo>
                <a:lnTo>
                  <a:pt x="0" y="63287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603" r="-19603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0" name="TextBox 20"/>
          <p:cNvSpPr txBox="1"/>
          <p:nvPr/>
        </p:nvSpPr>
        <p:spPr>
          <a:xfrm>
            <a:off x="419221" y="1674617"/>
            <a:ext cx="17317307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979176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STUDIE- OG KARRIEREVEJLEDNINGEN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912969" y="3402517"/>
            <a:ext cx="8115300" cy="70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49"/>
              </a:lnSpc>
              <a:spcBef>
                <a:spcPct val="0"/>
              </a:spcBef>
            </a:pP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Studievejledningen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kan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du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få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hjælp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til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mange ting. Vi taler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bl.a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.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ofte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med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studerende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om: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12991" y="9244012"/>
            <a:ext cx="19625748" cy="476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-462152" y="1033462"/>
            <a:ext cx="19212305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>
            <a:off x="-371907" y="2924738"/>
            <a:ext cx="19347670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" name="Freeform 5"/>
          <p:cNvSpPr/>
          <p:nvPr/>
        </p:nvSpPr>
        <p:spPr>
          <a:xfrm>
            <a:off x="11467592" y="8253866"/>
            <a:ext cx="421904" cy="421904"/>
          </a:xfrm>
          <a:custGeom>
            <a:avLst/>
            <a:gdLst/>
            <a:ahLst/>
            <a:cxnLst/>
            <a:rect l="l" t="t" r="r" b="b"/>
            <a:pathLst>
              <a:path w="421904" h="421904">
                <a:moveTo>
                  <a:pt x="0" y="0"/>
                </a:moveTo>
                <a:lnTo>
                  <a:pt x="421904" y="0"/>
                </a:lnTo>
                <a:lnTo>
                  <a:pt x="421904" y="421903"/>
                </a:lnTo>
                <a:lnTo>
                  <a:pt x="0" y="4219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6" name="Freeform 6"/>
          <p:cNvSpPr/>
          <p:nvPr/>
        </p:nvSpPr>
        <p:spPr>
          <a:xfrm>
            <a:off x="-38100" y="2919976"/>
            <a:ext cx="10816995" cy="6338324"/>
          </a:xfrm>
          <a:custGeom>
            <a:avLst/>
            <a:gdLst/>
            <a:ahLst/>
            <a:cxnLst/>
            <a:rect l="l" t="t" r="r" b="b"/>
            <a:pathLst>
              <a:path w="10816995" h="6338324">
                <a:moveTo>
                  <a:pt x="0" y="0"/>
                </a:moveTo>
                <a:lnTo>
                  <a:pt x="10816995" y="0"/>
                </a:lnTo>
                <a:lnTo>
                  <a:pt x="10816995" y="6338324"/>
                </a:lnTo>
                <a:lnTo>
                  <a:pt x="0" y="6338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957" b="-6957"/>
            </a:stretch>
          </a:blipFill>
          <a:ln w="9525" cap="sq">
            <a:solidFill>
              <a:srgbClr val="403E3E"/>
            </a:solidFill>
            <a:prstDash val="solid"/>
            <a:miter/>
          </a:ln>
        </p:spPr>
        <p:txBody>
          <a:bodyPr/>
          <a:lstStyle/>
          <a:p>
            <a:endParaRPr lang="da-DK"/>
          </a:p>
        </p:txBody>
      </p:sp>
      <p:grpSp>
        <p:nvGrpSpPr>
          <p:cNvPr id="7" name="Group 7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5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1482614" y="7675457"/>
            <a:ext cx="406882" cy="406882"/>
          </a:xfrm>
          <a:custGeom>
            <a:avLst/>
            <a:gdLst/>
            <a:ahLst/>
            <a:cxnLst/>
            <a:rect l="l" t="t" r="r" b="b"/>
            <a:pathLst>
              <a:path w="406882" h="406882">
                <a:moveTo>
                  <a:pt x="0" y="0"/>
                </a:moveTo>
                <a:lnTo>
                  <a:pt x="406882" y="0"/>
                </a:lnTo>
                <a:lnTo>
                  <a:pt x="406882" y="406882"/>
                </a:lnTo>
                <a:lnTo>
                  <a:pt x="0" y="4068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1" name="Freeform 11"/>
          <p:cNvSpPr/>
          <p:nvPr/>
        </p:nvSpPr>
        <p:spPr>
          <a:xfrm>
            <a:off x="11439661" y="7054173"/>
            <a:ext cx="449835" cy="449835"/>
          </a:xfrm>
          <a:custGeom>
            <a:avLst/>
            <a:gdLst/>
            <a:ahLst/>
            <a:cxnLst/>
            <a:rect l="l" t="t" r="r" b="b"/>
            <a:pathLst>
              <a:path w="449835" h="449835">
                <a:moveTo>
                  <a:pt x="0" y="0"/>
                </a:moveTo>
                <a:lnTo>
                  <a:pt x="449835" y="0"/>
                </a:lnTo>
                <a:lnTo>
                  <a:pt x="449835" y="449834"/>
                </a:lnTo>
                <a:lnTo>
                  <a:pt x="0" y="4498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2" name="Freeform 12"/>
          <p:cNvSpPr/>
          <p:nvPr/>
        </p:nvSpPr>
        <p:spPr>
          <a:xfrm>
            <a:off x="0" y="2943111"/>
            <a:ext cx="10778895" cy="6300902"/>
          </a:xfrm>
          <a:custGeom>
            <a:avLst/>
            <a:gdLst/>
            <a:ahLst/>
            <a:cxnLst/>
            <a:rect l="l" t="t" r="r" b="b"/>
            <a:pathLst>
              <a:path w="10778895" h="6300902">
                <a:moveTo>
                  <a:pt x="0" y="0"/>
                </a:moveTo>
                <a:lnTo>
                  <a:pt x="10778895" y="0"/>
                </a:lnTo>
                <a:lnTo>
                  <a:pt x="10778895" y="6300902"/>
                </a:lnTo>
                <a:lnTo>
                  <a:pt x="0" y="63009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067" b="-7067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3" name="Freeform 13"/>
          <p:cNvSpPr/>
          <p:nvPr/>
        </p:nvSpPr>
        <p:spPr>
          <a:xfrm>
            <a:off x="16030658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8" y="0"/>
                </a:lnTo>
                <a:lnTo>
                  <a:pt x="2152548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4" name="TextBox 14"/>
          <p:cNvSpPr txBox="1"/>
          <p:nvPr/>
        </p:nvSpPr>
        <p:spPr>
          <a:xfrm>
            <a:off x="251435" y="1674617"/>
            <a:ext cx="17802580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979176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TRÆFFETIDER I STUDIEVEJLEDNINGEN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67592" y="3521557"/>
            <a:ext cx="351628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799" spc="-6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Mandag til onsdag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67592" y="3959707"/>
            <a:ext cx="35162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KL. 9.00-11.30 &amp; 12.00-14.00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67592" y="4685512"/>
            <a:ext cx="3516289" cy="39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79"/>
              </a:lnSpc>
              <a:spcBef>
                <a:spcPct val="0"/>
              </a:spcBef>
            </a:pPr>
            <a:r>
              <a:rPr lang="en-US" sz="2799" spc="-6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Torsdag og fredag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67592" y="5863091"/>
            <a:ext cx="2990617" cy="519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0"/>
              </a:lnSpc>
              <a:spcBef>
                <a:spcPct val="0"/>
              </a:spcBef>
            </a:pPr>
            <a:r>
              <a:rPr lang="en-US" sz="1900" spc="-4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.. Eller efter aftale - også uden for åbningstiderne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67592" y="5136751"/>
            <a:ext cx="35162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KL. 9.00-11.30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993265" y="7207385"/>
            <a:ext cx="3516289" cy="25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80"/>
              </a:lnSpc>
              <a:spcBef>
                <a:spcPct val="0"/>
              </a:spcBef>
            </a:pPr>
            <a:r>
              <a:rPr lang="en-US" sz="18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Sønderhøj 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93265" y="8318001"/>
            <a:ext cx="2990617" cy="262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0"/>
              </a:lnSpc>
              <a:spcBef>
                <a:spcPct val="0"/>
              </a:spcBef>
            </a:pPr>
            <a:r>
              <a:rPr lang="en-US" sz="1900" spc="-4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vejledning@eaaa.dk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93265" y="7706496"/>
            <a:ext cx="3516289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 spc="-39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72286020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746" y="8569554"/>
            <a:ext cx="11642854" cy="32044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 flipV="1">
            <a:off x="-1" y="2163305"/>
            <a:ext cx="11737873" cy="3204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" name="AutoShape 5"/>
          <p:cNvSpPr/>
          <p:nvPr/>
        </p:nvSpPr>
        <p:spPr>
          <a:xfrm>
            <a:off x="53275" y="5680840"/>
            <a:ext cx="11732430" cy="32043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27" name="Group 27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6</a:t>
              </a:r>
            </a:p>
          </p:txBody>
        </p:sp>
      </p:grpSp>
      <p:sp>
        <p:nvSpPr>
          <p:cNvPr id="31" name="Freeform 31"/>
          <p:cNvSpPr/>
          <p:nvPr/>
        </p:nvSpPr>
        <p:spPr>
          <a:xfrm>
            <a:off x="15998410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32" name="TextBox 32"/>
          <p:cNvSpPr txBox="1"/>
          <p:nvPr/>
        </p:nvSpPr>
        <p:spPr>
          <a:xfrm>
            <a:off x="898572" y="873633"/>
            <a:ext cx="8115300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080"/>
              </a:lnSpc>
              <a:spcBef>
                <a:spcPct val="0"/>
              </a:spcBef>
            </a:pPr>
            <a:r>
              <a:rPr lang="en-US" sz="8000" spc="-176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SPS-STØTTE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9709" y="2563342"/>
            <a:ext cx="11411292" cy="2335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49"/>
              </a:lnSpc>
              <a:spcBef>
                <a:spcPct val="0"/>
              </a:spcBef>
            </a:pP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Støttetimer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ved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EAAA-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ansat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til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struktur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,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overblik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og </a:t>
            </a:r>
            <a:r>
              <a:rPr lang="en-US" sz="2499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prioritering</a:t>
            </a:r>
            <a:r>
              <a:rPr lang="en-US" sz="2499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:</a:t>
            </a:r>
          </a:p>
          <a:p>
            <a:pPr marL="342900" lvl="0" indent="-3429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Angst</a:t>
            </a:r>
          </a:p>
          <a:p>
            <a:pPr marL="342900" lvl="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Depression</a:t>
            </a:r>
          </a:p>
          <a:p>
            <a:pPr marL="342900" lvl="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ADHD</a:t>
            </a:r>
          </a:p>
          <a:p>
            <a:pPr marL="342900" lvl="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Autisme</a:t>
            </a:r>
            <a:endParaRPr lang="en-US" sz="2000" spc="-137" dirty="0">
              <a:solidFill>
                <a:srgbClr val="403E3E"/>
              </a:solidFill>
              <a:latin typeface="Mukti"/>
              <a:ea typeface="Mukti"/>
              <a:cs typeface="Mukti"/>
              <a:sym typeface="Mukti"/>
            </a:endParaRPr>
          </a:p>
          <a:p>
            <a:pPr marL="342900" lvl="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Og </a:t>
            </a:r>
            <a:r>
              <a:rPr lang="en-US" sz="2000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andre</a:t>
            </a: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000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psykiske</a:t>
            </a: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000" spc="-137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funktionsnedsættelser</a:t>
            </a:r>
            <a:r>
              <a:rPr lang="en-US" sz="2000" spc="-137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9709" y="5982852"/>
            <a:ext cx="11411292" cy="2060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749"/>
              </a:lnSpc>
              <a:spcBef>
                <a:spcPct val="0"/>
              </a:spcBef>
            </a:pPr>
            <a:r>
              <a:rPr lang="da-DK" sz="2500" dirty="0">
                <a:latin typeface="Mukti" panose="020B0604020202020204" charset="0"/>
                <a:cs typeface="Mukti" panose="020B0604020202020204" charset="0"/>
              </a:rPr>
              <a:t>Hjælpemidler til ordblinde, fx IT-programpakke, stole eller andet udstyr:</a:t>
            </a:r>
          </a:p>
          <a:p>
            <a:pPr marL="34290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da-DK" sz="2000" spc="-137" dirty="0">
              <a:solidFill>
                <a:srgbClr val="403E3E"/>
              </a:solidFill>
              <a:latin typeface="Mukti" panose="020B0604020202020204" charset="0"/>
              <a:ea typeface="Mukti"/>
              <a:cs typeface="Mukti" panose="020B0604020202020204" charset="0"/>
              <a:sym typeface="Mukti"/>
            </a:endParaRPr>
          </a:p>
          <a:p>
            <a:pPr marL="34290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a-DK" sz="2000" spc="-137" dirty="0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Ordblind</a:t>
            </a:r>
          </a:p>
          <a:p>
            <a:pPr marL="34290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da-DK" sz="2000" spc="-137" dirty="0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Talblind</a:t>
            </a:r>
            <a:r>
              <a:rPr lang="en-US" sz="2000" spc="-137" dirty="0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 </a:t>
            </a:r>
          </a:p>
          <a:p>
            <a:pPr marL="342900" indent="-342900" algn="just">
              <a:lnSpc>
                <a:spcPts val="274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37" dirty="0" err="1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Fysisk</a:t>
            </a:r>
            <a:r>
              <a:rPr lang="en-US" sz="2000" spc="-137" dirty="0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 </a:t>
            </a:r>
            <a:r>
              <a:rPr lang="en-US" sz="2000" spc="-137" dirty="0" err="1">
                <a:solidFill>
                  <a:srgbClr val="403E3E"/>
                </a:solidFill>
                <a:latin typeface="Mukti" panose="020B0604020202020204" charset="0"/>
                <a:ea typeface="Mukti"/>
                <a:cs typeface="Mukti" panose="020B0604020202020204" charset="0"/>
                <a:sym typeface="Mukti"/>
              </a:rPr>
              <a:t>funtionsnedsættelse</a:t>
            </a:r>
            <a:endParaRPr lang="en-US" sz="2000" spc="-137" dirty="0">
              <a:solidFill>
                <a:srgbClr val="403E3E"/>
              </a:solidFill>
              <a:latin typeface="Mukti" panose="020B0604020202020204" charset="0"/>
              <a:ea typeface="Mukti"/>
              <a:cs typeface="Mukti" panose="020B0604020202020204" charset="0"/>
              <a:sym typeface="Mukti"/>
            </a:endParaRPr>
          </a:p>
          <a:p>
            <a:pPr algn="just">
              <a:lnSpc>
                <a:spcPts val="2749"/>
              </a:lnSpc>
              <a:spcBef>
                <a:spcPct val="0"/>
              </a:spcBef>
            </a:pPr>
            <a:endParaRPr lang="en-US" spc="-137" dirty="0">
              <a:solidFill>
                <a:srgbClr val="403E3E"/>
              </a:solidFill>
              <a:latin typeface="Mukti" panose="020B0604020202020204" charset="0"/>
              <a:ea typeface="Mukti"/>
              <a:cs typeface="Mukti" panose="020B0604020202020204" charset="0"/>
              <a:sym typeface="Mukti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732262" y="5094021"/>
            <a:ext cx="9859538" cy="414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99"/>
              </a:lnSpc>
              <a:spcBef>
                <a:spcPct val="0"/>
              </a:spcBef>
            </a:pPr>
            <a:r>
              <a:rPr lang="en-US" sz="2400" b="1" spc="-164" dirty="0">
                <a:solidFill>
                  <a:srgbClr val="979176"/>
                </a:solidFill>
                <a:latin typeface="DM Sans Bold"/>
                <a:ea typeface="DM Sans Bold"/>
                <a:cs typeface="DM Sans Bold"/>
                <a:sym typeface="DM Sans Bold"/>
              </a:rPr>
              <a:t>Kontakt </a:t>
            </a:r>
            <a:r>
              <a:rPr lang="en-US" sz="2400" b="1" spc="-164" dirty="0" err="1">
                <a:solidFill>
                  <a:srgbClr val="979176"/>
                </a:solidFill>
                <a:latin typeface="DM Sans Bold"/>
                <a:ea typeface="DM Sans Bold"/>
                <a:cs typeface="DM Sans Bold"/>
                <a:sym typeface="DM Sans Bold"/>
              </a:rPr>
              <a:t>studievejledningen</a:t>
            </a:r>
            <a:r>
              <a:rPr lang="en-US" sz="2400" b="1" spc="-164" dirty="0">
                <a:solidFill>
                  <a:srgbClr val="979176"/>
                </a:solidFill>
                <a:latin typeface="DM Sans Bold"/>
                <a:ea typeface="DM Sans Bold"/>
                <a:cs typeface="DM Sans Bold"/>
                <a:sym typeface="DM Sans Bold"/>
              </a:rPr>
              <a:t>: vejledning@eaaa.dk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3315" y="7863475"/>
            <a:ext cx="9601200" cy="4053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3299"/>
              </a:lnSpc>
              <a:spcBef>
                <a:spcPct val="0"/>
              </a:spcBef>
            </a:pPr>
            <a:r>
              <a:rPr lang="en-US" sz="2400" b="1" spc="-164" dirty="0" err="1">
                <a:solidFill>
                  <a:srgbClr val="979176"/>
                </a:solidFill>
                <a:latin typeface="DM Sans Bold"/>
                <a:ea typeface="DM Sans Bold"/>
                <a:cs typeface="DM Sans Bold"/>
                <a:sym typeface="DM Sans Bold"/>
              </a:rPr>
              <a:t>Udfyld</a:t>
            </a:r>
            <a:r>
              <a:rPr lang="en-US" sz="2400" b="1" spc="-164" dirty="0">
                <a:solidFill>
                  <a:srgbClr val="979176"/>
                </a:solidFill>
                <a:latin typeface="DM Sans Bold"/>
                <a:ea typeface="DM Sans Bold"/>
                <a:cs typeface="DM Sans Bold"/>
                <a:sym typeface="DM Sans Bold"/>
              </a:rPr>
              <a:t> blanket på Studerende.eaaa.dk under ’SU og SPS’</a:t>
            </a:r>
          </a:p>
        </p:txBody>
      </p:sp>
      <p:sp>
        <p:nvSpPr>
          <p:cNvPr id="37" name="TextBox 35">
            <a:extLst>
              <a:ext uri="{FF2B5EF4-FFF2-40B4-BE49-F238E27FC236}">
                <a16:creationId xmlns:a16="http://schemas.microsoft.com/office/drawing/2014/main" id="{4F14FB95-8FA8-40BB-94D4-DD585F17950C}"/>
              </a:ext>
            </a:extLst>
          </p:cNvPr>
          <p:cNvSpPr txBox="1"/>
          <p:nvPr/>
        </p:nvSpPr>
        <p:spPr>
          <a:xfrm>
            <a:off x="898572" y="8838678"/>
            <a:ext cx="10926338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da-DK" sz="2000" dirty="0">
                <a:latin typeface="Mukti" panose="020B0604020202020204" charset="0"/>
                <a:cs typeface="Mukti" panose="020B0604020202020204" charset="0"/>
              </a:rPr>
              <a:t>Har du en dokumenteret funktionsnedsættelse, kan du også søge om </a:t>
            </a:r>
            <a:r>
              <a:rPr lang="da-DK" sz="2000" b="1" dirty="0">
                <a:latin typeface="Mukti" panose="020B0604020202020204" charset="0"/>
                <a:cs typeface="Mukti" panose="020B0604020202020204" charset="0"/>
              </a:rPr>
              <a:t>særlige prøvevilkår</a:t>
            </a:r>
            <a:r>
              <a:rPr lang="da-DK" sz="2000" dirty="0">
                <a:latin typeface="Mukti" panose="020B0604020202020204" charset="0"/>
                <a:cs typeface="Mukti" panose="020B0604020202020204" charset="0"/>
              </a:rPr>
              <a:t>. </a:t>
            </a:r>
          </a:p>
          <a:p>
            <a:pPr lvl="0" algn="just">
              <a:lnSpc>
                <a:spcPct val="150000"/>
              </a:lnSpc>
              <a:spcBef>
                <a:spcPct val="0"/>
              </a:spcBef>
            </a:pPr>
            <a:r>
              <a:rPr lang="da-DK" sz="2000" dirty="0">
                <a:latin typeface="Mukti" panose="020B0604020202020204" charset="0"/>
                <a:cs typeface="Mukti" panose="020B0604020202020204" charset="0"/>
              </a:rPr>
              <a:t>Kontakt Studievejledningen, hvis du gerne vil vide mere om den mulighed.</a:t>
            </a:r>
            <a:endParaRPr lang="en-US" sz="2000" b="1" spc="-164" dirty="0">
              <a:solidFill>
                <a:srgbClr val="979176"/>
              </a:solidFill>
              <a:latin typeface="Mukti" panose="020B0604020202020204" charset="0"/>
              <a:ea typeface="DM Sans Bold"/>
              <a:cs typeface="Mukti" panose="020B0604020202020204" charset="0"/>
              <a:sym typeface="DM Sans Bold"/>
            </a:endParaRPr>
          </a:p>
        </p:txBody>
      </p:sp>
      <p:pic>
        <p:nvPicPr>
          <p:cNvPr id="38" name="Billede 37">
            <a:extLst>
              <a:ext uri="{FF2B5EF4-FFF2-40B4-BE49-F238E27FC236}">
                <a16:creationId xmlns:a16="http://schemas.microsoft.com/office/drawing/2014/main" id="{4A6875E5-2254-E971-62C5-671F70EED00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alphaModFix amt="70000"/>
          </a:blip>
          <a:stretch>
            <a:fillRect/>
          </a:stretch>
        </p:blipFill>
        <p:spPr>
          <a:xfrm>
            <a:off x="11658600" y="1028699"/>
            <a:ext cx="6096000" cy="7239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48772"/>
            <a:ext cx="13526006" cy="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-1" y="971966"/>
            <a:ext cx="18288001" cy="9802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>
            <a:off x="-1" y="2924738"/>
            <a:ext cx="13526007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5" name="Group 5"/>
          <p:cNvGrpSpPr/>
          <p:nvPr/>
        </p:nvGrpSpPr>
        <p:grpSpPr>
          <a:xfrm>
            <a:off x="1028700" y="3627390"/>
            <a:ext cx="5320542" cy="741616"/>
            <a:chOff x="0" y="0"/>
            <a:chExt cx="1508781" cy="21030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8781" cy="210305"/>
            </a:xfrm>
            <a:custGeom>
              <a:avLst/>
              <a:gdLst/>
              <a:ahLst/>
              <a:cxnLst/>
              <a:rect l="l" t="t" r="r" b="b"/>
              <a:pathLst>
                <a:path w="1508781" h="210305">
                  <a:moveTo>
                    <a:pt x="74210" y="0"/>
                  </a:moveTo>
                  <a:lnTo>
                    <a:pt x="1434571" y="0"/>
                  </a:lnTo>
                  <a:cubicBezTo>
                    <a:pt x="1475556" y="0"/>
                    <a:pt x="1508781" y="33225"/>
                    <a:pt x="1508781" y="74210"/>
                  </a:cubicBezTo>
                  <a:lnTo>
                    <a:pt x="1508781" y="136095"/>
                  </a:lnTo>
                  <a:cubicBezTo>
                    <a:pt x="1508781" y="155777"/>
                    <a:pt x="1500962" y="174652"/>
                    <a:pt x="1487045" y="188569"/>
                  </a:cubicBezTo>
                  <a:cubicBezTo>
                    <a:pt x="1473128" y="202486"/>
                    <a:pt x="1454252" y="210305"/>
                    <a:pt x="1434571" y="210305"/>
                  </a:cubicBezTo>
                  <a:lnTo>
                    <a:pt x="74210" y="210305"/>
                  </a:lnTo>
                  <a:cubicBezTo>
                    <a:pt x="33225" y="210305"/>
                    <a:pt x="0" y="177080"/>
                    <a:pt x="0" y="136095"/>
                  </a:cubicBezTo>
                  <a:lnTo>
                    <a:pt x="0" y="74210"/>
                  </a:lnTo>
                  <a:cubicBezTo>
                    <a:pt x="0" y="33225"/>
                    <a:pt x="33225" y="0"/>
                    <a:pt x="74210" y="0"/>
                  </a:cubicBezTo>
                  <a:close/>
                </a:path>
              </a:pathLst>
            </a:custGeom>
            <a:solidFill>
              <a:srgbClr val="FAFAF6"/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8781" cy="248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4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SELVBETJENING OG NYTTIGE LINKS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7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543800" y="2924738"/>
            <a:ext cx="10442913" cy="6390294"/>
          </a:xfrm>
          <a:custGeom>
            <a:avLst/>
            <a:gdLst/>
            <a:ahLst/>
            <a:cxnLst/>
            <a:rect l="l" t="t" r="r" b="b"/>
            <a:pathLst>
              <a:path w="10419303" h="6333562">
                <a:moveTo>
                  <a:pt x="0" y="0"/>
                </a:moveTo>
                <a:lnTo>
                  <a:pt x="10419303" y="0"/>
                </a:lnTo>
                <a:lnTo>
                  <a:pt x="10419303" y="6333562"/>
                </a:lnTo>
                <a:lnTo>
                  <a:pt x="0" y="63335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07" t="-1250" r="-4107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2" name="TextBox 12"/>
          <p:cNvSpPr txBox="1"/>
          <p:nvPr/>
        </p:nvSpPr>
        <p:spPr>
          <a:xfrm>
            <a:off x="2410708" y="1674617"/>
            <a:ext cx="13466584" cy="81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STUDERENDE.EAAA.DK</a:t>
            </a:r>
          </a:p>
        </p:txBody>
      </p:sp>
      <p:sp>
        <p:nvSpPr>
          <p:cNvPr id="13" name="Freeform 13"/>
          <p:cNvSpPr/>
          <p:nvPr/>
        </p:nvSpPr>
        <p:spPr>
          <a:xfrm>
            <a:off x="15877292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4" name="TextBox 14"/>
          <p:cNvSpPr txBox="1"/>
          <p:nvPr/>
        </p:nvSpPr>
        <p:spPr>
          <a:xfrm>
            <a:off x="13499355" y="314960"/>
            <a:ext cx="4237173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WWW.STUDERENDE.EAAA.DK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82642" y="4881808"/>
            <a:ext cx="5770558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090"/>
              </a:lnSpc>
              <a:spcBef>
                <a:spcPct val="0"/>
              </a:spcBef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Under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Selvbetjening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finder du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svar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på,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hvordan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du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eksempelvis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søger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om:</a:t>
            </a:r>
          </a:p>
          <a:p>
            <a:pPr marL="342900" lvl="0" indent="-342900">
              <a:lnSpc>
                <a:spcPts val="2090"/>
              </a:lnSpc>
              <a:spcBef>
                <a:spcPct val="0"/>
              </a:spcBef>
              <a:buFontTx/>
              <a:buChar char="-"/>
            </a:pPr>
            <a:endParaRPr lang="en-US" sz="2000" spc="-104" dirty="0">
              <a:solidFill>
                <a:srgbClr val="403E3E"/>
              </a:solidFill>
              <a:latin typeface="Montserrat Light" panose="00000400000000000000" pitchFamily="50" charset="0"/>
              <a:ea typeface="Mukti"/>
              <a:cs typeface="Mukti"/>
              <a:sym typeface="Mukti"/>
            </a:endParaRPr>
          </a:p>
          <a:p>
            <a:pPr marL="342900" lvl="0" indent="-342900">
              <a:lnSpc>
                <a:spcPts val="20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særlige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prøvevilkår</a:t>
            </a:r>
            <a:endParaRPr lang="en-US" sz="2000" spc="-104" dirty="0">
              <a:solidFill>
                <a:srgbClr val="403E3E"/>
              </a:solidFill>
              <a:latin typeface="Montserrat Light" panose="00000400000000000000" pitchFamily="50" charset="0"/>
              <a:ea typeface="Mukti"/>
              <a:cs typeface="Mukti"/>
              <a:sym typeface="Mukti"/>
            </a:endParaRPr>
          </a:p>
          <a:p>
            <a:pPr marL="342900" lvl="0" indent="-342900">
              <a:lnSpc>
                <a:spcPts val="20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barsel</a:t>
            </a:r>
            <a:endParaRPr lang="en-US" sz="2000" spc="-104" dirty="0">
              <a:solidFill>
                <a:srgbClr val="403E3E"/>
              </a:solidFill>
              <a:latin typeface="Montserrat Light" panose="00000400000000000000" pitchFamily="50" charset="0"/>
              <a:ea typeface="Mukti"/>
              <a:cs typeface="Mukti"/>
              <a:sym typeface="Mukti"/>
            </a:endParaRPr>
          </a:p>
          <a:p>
            <a:pPr marL="342900" lvl="0" indent="-342900">
              <a:lnSpc>
                <a:spcPts val="20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dispensation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82642" y="6819900"/>
            <a:ext cx="5759672" cy="817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090"/>
              </a:lnSpc>
              <a:spcBef>
                <a:spcPct val="0"/>
              </a:spcBef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Du finder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generelt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på studerende.eaaa.dk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nyttige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links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til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eksempelvis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praktiksøgning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,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Wiseflow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og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meget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mere</a:t>
            </a:r>
            <a:r>
              <a:rPr lang="en-US" sz="19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A3D7AB-07B1-A2CF-6C56-150CEDF7C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9208F25-A6A9-2175-F195-952D10BA72EB}"/>
              </a:ext>
            </a:extLst>
          </p:cNvPr>
          <p:cNvSpPr/>
          <p:nvPr/>
        </p:nvSpPr>
        <p:spPr>
          <a:xfrm flipV="1">
            <a:off x="-612992" y="9209324"/>
            <a:ext cx="18900992" cy="34688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6351F13-1FA9-66E0-CED7-F49F1A5EBA3E}"/>
              </a:ext>
            </a:extLst>
          </p:cNvPr>
          <p:cNvSpPr/>
          <p:nvPr/>
        </p:nvSpPr>
        <p:spPr>
          <a:xfrm flipV="1">
            <a:off x="-462152" y="1033462"/>
            <a:ext cx="19212305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DDD9381-AA36-84A3-155B-C70E2CD9FA62}"/>
              </a:ext>
            </a:extLst>
          </p:cNvPr>
          <p:cNvSpPr/>
          <p:nvPr/>
        </p:nvSpPr>
        <p:spPr>
          <a:xfrm>
            <a:off x="-439308" y="2924738"/>
            <a:ext cx="18727307" cy="476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843A5651-2F9D-CC3C-706A-C9D69EE9E166}"/>
              </a:ext>
            </a:extLst>
          </p:cNvPr>
          <p:cNvGrpSpPr/>
          <p:nvPr/>
        </p:nvGrpSpPr>
        <p:grpSpPr>
          <a:xfrm>
            <a:off x="1028700" y="3493035"/>
            <a:ext cx="6286500" cy="875971"/>
            <a:chOff x="0" y="-38100"/>
            <a:chExt cx="1508781" cy="248405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34AEB54-28EB-2F13-A5F8-54374714B4B0}"/>
                </a:ext>
              </a:extLst>
            </p:cNvPr>
            <p:cNvSpPr/>
            <p:nvPr/>
          </p:nvSpPr>
          <p:spPr>
            <a:xfrm>
              <a:off x="0" y="0"/>
              <a:ext cx="1508781" cy="210305"/>
            </a:xfrm>
            <a:custGeom>
              <a:avLst/>
              <a:gdLst/>
              <a:ahLst/>
              <a:cxnLst/>
              <a:rect l="l" t="t" r="r" b="b"/>
              <a:pathLst>
                <a:path w="1508781" h="210305">
                  <a:moveTo>
                    <a:pt x="74210" y="0"/>
                  </a:moveTo>
                  <a:lnTo>
                    <a:pt x="1434571" y="0"/>
                  </a:lnTo>
                  <a:cubicBezTo>
                    <a:pt x="1475556" y="0"/>
                    <a:pt x="1508781" y="33225"/>
                    <a:pt x="1508781" y="74210"/>
                  </a:cubicBezTo>
                  <a:lnTo>
                    <a:pt x="1508781" y="136095"/>
                  </a:lnTo>
                  <a:cubicBezTo>
                    <a:pt x="1508781" y="155777"/>
                    <a:pt x="1500962" y="174652"/>
                    <a:pt x="1487045" y="188569"/>
                  </a:cubicBezTo>
                  <a:cubicBezTo>
                    <a:pt x="1473128" y="202486"/>
                    <a:pt x="1454252" y="210305"/>
                    <a:pt x="1434571" y="210305"/>
                  </a:cubicBezTo>
                  <a:lnTo>
                    <a:pt x="74210" y="210305"/>
                  </a:lnTo>
                  <a:cubicBezTo>
                    <a:pt x="33225" y="210305"/>
                    <a:pt x="0" y="177080"/>
                    <a:pt x="0" y="136095"/>
                  </a:cubicBezTo>
                  <a:lnTo>
                    <a:pt x="0" y="74210"/>
                  </a:lnTo>
                  <a:cubicBezTo>
                    <a:pt x="0" y="33225"/>
                    <a:pt x="33225" y="0"/>
                    <a:pt x="74210" y="0"/>
                  </a:cubicBezTo>
                  <a:close/>
                </a:path>
              </a:pathLst>
            </a:custGeom>
            <a:solidFill>
              <a:srgbClr val="FAFAF6"/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D226D22-526B-EEDB-A28C-962A5EC4DE9B}"/>
                </a:ext>
              </a:extLst>
            </p:cNvPr>
            <p:cNvSpPr txBox="1"/>
            <p:nvPr/>
          </p:nvSpPr>
          <p:spPr>
            <a:xfrm>
              <a:off x="0" y="-38100"/>
              <a:ext cx="1458576" cy="248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4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BESKEDER FRA STUDIEVEJLEDNINGEN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2FBEBD7-4F31-86E0-6F97-A96F00E056A6}"/>
              </a:ext>
            </a:extLst>
          </p:cNvPr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721263B7-D3D2-0AB8-F0EC-A919C0DAEAA3}"/>
                </a:ext>
              </a:extLst>
            </p:cNvPr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C3C429C-FEF6-E552-C3FC-CF5FCC3C481C}"/>
                </a:ext>
              </a:extLst>
            </p:cNvPr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7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E8B5B30C-6889-5FD2-071F-498447F683A5}"/>
              </a:ext>
            </a:extLst>
          </p:cNvPr>
          <p:cNvSpPr txBox="1"/>
          <p:nvPr/>
        </p:nvSpPr>
        <p:spPr>
          <a:xfrm>
            <a:off x="2410708" y="1674617"/>
            <a:ext cx="13466584" cy="818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CANVAS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0470B6E-450F-A70B-F4EA-302825DB04F9}"/>
              </a:ext>
            </a:extLst>
          </p:cNvPr>
          <p:cNvSpPr/>
          <p:nvPr/>
        </p:nvSpPr>
        <p:spPr>
          <a:xfrm>
            <a:off x="15877292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3F9FFF-2A57-1185-05C0-FDA1350E4841}"/>
              </a:ext>
            </a:extLst>
          </p:cNvPr>
          <p:cNvSpPr txBox="1"/>
          <p:nvPr/>
        </p:nvSpPr>
        <p:spPr>
          <a:xfrm>
            <a:off x="13499355" y="314960"/>
            <a:ext cx="4237173" cy="332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60"/>
              </a:lnSpc>
            </a:pPr>
            <a:endParaRPr lang="en-US" sz="1900" spc="-104" dirty="0">
              <a:solidFill>
                <a:srgbClr val="403E3E"/>
              </a:solidFill>
              <a:latin typeface="Mukti"/>
              <a:ea typeface="Mukti"/>
              <a:cs typeface="Mukti"/>
              <a:sym typeface="Mukti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7D40E1-B529-1FC5-94D3-7CF5DAE8BCD1}"/>
              </a:ext>
            </a:extLst>
          </p:cNvPr>
          <p:cNvSpPr txBox="1"/>
          <p:nvPr/>
        </p:nvSpPr>
        <p:spPr>
          <a:xfrm>
            <a:off x="1061830" y="4975393"/>
            <a:ext cx="6286500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På Canvas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vil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der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løbende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komme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beskeder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fra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Studievejledningen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, SU-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kontoret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og Basement</a:t>
            </a:r>
          </a:p>
          <a:p>
            <a:pPr marL="0" lvl="0" indent="0">
              <a:spcBef>
                <a:spcPct val="0"/>
              </a:spcBef>
            </a:pPr>
            <a:endParaRPr lang="en-US" sz="2000" spc="-104" dirty="0">
              <a:solidFill>
                <a:srgbClr val="403E3E"/>
              </a:solidFill>
              <a:latin typeface="Montserrat Light" panose="00000400000000000000" pitchFamily="50" charset="0"/>
              <a:ea typeface="Mukti"/>
              <a:cs typeface="Mukti"/>
              <a:sym typeface="Mukti"/>
            </a:endParaRPr>
          </a:p>
          <a:p>
            <a:pPr marL="0" lvl="0" indent="0">
              <a:spcBef>
                <a:spcPct val="0"/>
              </a:spcBef>
            </a:pP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Fx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information om:</a:t>
            </a:r>
          </a:p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eksamensmestring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kurser</a:t>
            </a:r>
          </a:p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tilbud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til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studerende</a:t>
            </a:r>
            <a:endParaRPr lang="en-US" sz="2000" spc="-104" dirty="0">
              <a:solidFill>
                <a:srgbClr val="403E3E"/>
              </a:solidFill>
              <a:latin typeface="Montserrat Light" panose="00000400000000000000" pitchFamily="50" charset="0"/>
              <a:ea typeface="Mukti"/>
              <a:cs typeface="Mukti"/>
              <a:sym typeface="Mukti"/>
            </a:endParaRPr>
          </a:p>
          <a:p>
            <a:pPr marL="342900" lvl="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info-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møder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og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lignende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. 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BDBDE1C-8446-C9C0-727B-2EC53AB45BA5}"/>
              </a:ext>
            </a:extLst>
          </p:cNvPr>
          <p:cNvSpPr txBox="1"/>
          <p:nvPr/>
        </p:nvSpPr>
        <p:spPr>
          <a:xfrm>
            <a:off x="1061830" y="7621349"/>
            <a:ext cx="6515100" cy="5482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090"/>
              </a:lnSpc>
              <a:spcBef>
                <a:spcPct val="0"/>
              </a:spcBef>
            </a:pP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Du finder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generelt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på Canvas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beskeder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, der er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aktuelle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og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relevante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 for din </a:t>
            </a:r>
            <a:r>
              <a:rPr lang="en-US" sz="2000" spc="-104" dirty="0" err="1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uddannelse</a:t>
            </a:r>
            <a:r>
              <a:rPr lang="en-US" sz="2000" spc="-104" dirty="0">
                <a:solidFill>
                  <a:srgbClr val="403E3E"/>
                </a:solidFill>
                <a:latin typeface="Montserrat Light" panose="00000400000000000000" pitchFamily="50" charset="0"/>
                <a:ea typeface="Mukti"/>
                <a:cs typeface="Mukti"/>
                <a:sym typeface="Mukti"/>
              </a:rPr>
              <a:t>.</a:t>
            </a:r>
          </a:p>
        </p:txBody>
      </p:sp>
      <p:pic>
        <p:nvPicPr>
          <p:cNvPr id="18" name="Billede 17">
            <a:extLst>
              <a:ext uri="{FF2B5EF4-FFF2-40B4-BE49-F238E27FC236}">
                <a16:creationId xmlns:a16="http://schemas.microsoft.com/office/drawing/2014/main" id="{027F7E83-E88B-87A0-D61E-6B71F863E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2955699"/>
            <a:ext cx="9829800" cy="6253625"/>
          </a:xfrm>
          <a:prstGeom prst="rect">
            <a:avLst/>
          </a:prstGeom>
        </p:spPr>
      </p:pic>
      <p:sp>
        <p:nvSpPr>
          <p:cNvPr id="11" name="Pil: højre 10">
            <a:extLst>
              <a:ext uri="{FF2B5EF4-FFF2-40B4-BE49-F238E27FC236}">
                <a16:creationId xmlns:a16="http://schemas.microsoft.com/office/drawing/2014/main" id="{11D98054-FF30-F4A5-8CF2-23B43A2E547E}"/>
              </a:ext>
            </a:extLst>
          </p:cNvPr>
          <p:cNvSpPr/>
          <p:nvPr/>
        </p:nvSpPr>
        <p:spPr>
          <a:xfrm rot="7383971">
            <a:off x="15261573" y="4032323"/>
            <a:ext cx="2024085" cy="400491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1763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5430803" y="9229671"/>
            <a:ext cx="12857198" cy="23867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3" name="AutoShape 3"/>
          <p:cNvSpPr/>
          <p:nvPr/>
        </p:nvSpPr>
        <p:spPr>
          <a:xfrm flipV="1">
            <a:off x="5430803" y="1104900"/>
            <a:ext cx="12857197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 flipV="1">
            <a:off x="5430803" y="2895833"/>
            <a:ext cx="12857198" cy="28905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" name="AutoShape 5"/>
          <p:cNvSpPr/>
          <p:nvPr/>
        </p:nvSpPr>
        <p:spPr>
          <a:xfrm flipV="1">
            <a:off x="5430803" y="6047577"/>
            <a:ext cx="12857198" cy="41561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9" name="Group 9"/>
          <p:cNvGrpSpPr/>
          <p:nvPr/>
        </p:nvGrpSpPr>
        <p:grpSpPr>
          <a:xfrm>
            <a:off x="6367543" y="3160135"/>
            <a:ext cx="10669594" cy="2517566"/>
            <a:chOff x="0" y="0"/>
            <a:chExt cx="3504525" cy="76008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504525" cy="760081"/>
            </a:xfrm>
            <a:custGeom>
              <a:avLst/>
              <a:gdLst/>
              <a:ahLst/>
              <a:cxnLst/>
              <a:rect l="l" t="t" r="r" b="b"/>
              <a:pathLst>
                <a:path w="3504525" h="760081">
                  <a:moveTo>
                    <a:pt x="36251" y="0"/>
                  </a:moveTo>
                  <a:lnTo>
                    <a:pt x="3468274" y="0"/>
                  </a:lnTo>
                  <a:cubicBezTo>
                    <a:pt x="3477888" y="0"/>
                    <a:pt x="3487109" y="3819"/>
                    <a:pt x="3493908" y="10618"/>
                  </a:cubicBezTo>
                  <a:cubicBezTo>
                    <a:pt x="3500706" y="17416"/>
                    <a:pt x="3504525" y="26637"/>
                    <a:pt x="3504525" y="36251"/>
                  </a:cubicBezTo>
                  <a:lnTo>
                    <a:pt x="3504525" y="723830"/>
                  </a:lnTo>
                  <a:cubicBezTo>
                    <a:pt x="3504525" y="743851"/>
                    <a:pt x="3488295" y="760081"/>
                    <a:pt x="3468274" y="760081"/>
                  </a:cubicBezTo>
                  <a:lnTo>
                    <a:pt x="36251" y="760081"/>
                  </a:lnTo>
                  <a:cubicBezTo>
                    <a:pt x="26637" y="760081"/>
                    <a:pt x="17416" y="756262"/>
                    <a:pt x="10618" y="749464"/>
                  </a:cubicBezTo>
                  <a:cubicBezTo>
                    <a:pt x="3819" y="742665"/>
                    <a:pt x="0" y="733445"/>
                    <a:pt x="0" y="723830"/>
                  </a:cubicBezTo>
                  <a:lnTo>
                    <a:pt x="0" y="36251"/>
                  </a:lnTo>
                  <a:cubicBezTo>
                    <a:pt x="0" y="26637"/>
                    <a:pt x="3819" y="17416"/>
                    <a:pt x="10618" y="10618"/>
                  </a:cubicBezTo>
                  <a:cubicBezTo>
                    <a:pt x="17416" y="3819"/>
                    <a:pt x="26637" y="0"/>
                    <a:pt x="36251" y="0"/>
                  </a:cubicBezTo>
                  <a:close/>
                </a:path>
              </a:pathLst>
            </a:custGeom>
            <a:solidFill>
              <a:srgbClr val="FAFAF6"/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3504525" cy="7981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000" b="1" spc="-39" dirty="0">
                  <a:latin typeface="Arial Nova Light"/>
                  <a:ea typeface="Arial Nova Light"/>
                  <a:cs typeface="Arial Nova Light"/>
                  <a:sym typeface="Arial Nova Light"/>
                </a:rPr>
                <a:t>ÅBNINGSTIDER </a:t>
              </a:r>
              <a:r>
                <a:rPr lang="en-US" b="1" spc="-39" dirty="0">
                  <a:solidFill>
                    <a:srgbClr val="979176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</a:p>
            <a:p>
              <a:pPr algn="ctr">
                <a:lnSpc>
                  <a:spcPts val="2520"/>
                </a:lnSpc>
              </a:pPr>
              <a:endParaRPr lang="en-US" b="1" spc="-39" dirty="0">
                <a:solidFill>
                  <a:srgbClr val="979176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  <a:p>
              <a:pPr algn="ctr">
                <a:lnSpc>
                  <a:spcPts val="2520"/>
                </a:lnSpc>
              </a:pPr>
              <a:r>
                <a:rPr lang="da-DK" sz="2400" b="1" dirty="0"/>
                <a:t>Mandag-Fredag: </a:t>
              </a:r>
              <a:r>
                <a:rPr lang="da-DK" sz="2400" dirty="0"/>
                <a:t>9.00-11.30 og 12.15-14.00.</a:t>
              </a:r>
              <a:endParaRPr lang="en-US" sz="24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67543" y="6538782"/>
            <a:ext cx="2776457" cy="741616"/>
            <a:chOff x="0" y="0"/>
            <a:chExt cx="787338" cy="21030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87338" cy="210305"/>
            </a:xfrm>
            <a:custGeom>
              <a:avLst/>
              <a:gdLst/>
              <a:ahLst/>
              <a:cxnLst/>
              <a:rect l="l" t="t" r="r" b="b"/>
              <a:pathLst>
                <a:path w="787338" h="210305">
                  <a:moveTo>
                    <a:pt x="105153" y="0"/>
                  </a:moveTo>
                  <a:lnTo>
                    <a:pt x="682185" y="0"/>
                  </a:lnTo>
                  <a:cubicBezTo>
                    <a:pt x="710074" y="0"/>
                    <a:pt x="736819" y="11079"/>
                    <a:pt x="756539" y="30798"/>
                  </a:cubicBezTo>
                  <a:cubicBezTo>
                    <a:pt x="776259" y="50518"/>
                    <a:pt x="787338" y="77264"/>
                    <a:pt x="787338" y="105153"/>
                  </a:cubicBezTo>
                  <a:lnTo>
                    <a:pt x="787338" y="105153"/>
                  </a:lnTo>
                  <a:cubicBezTo>
                    <a:pt x="787338" y="133041"/>
                    <a:pt x="776259" y="159787"/>
                    <a:pt x="756539" y="179507"/>
                  </a:cubicBezTo>
                  <a:cubicBezTo>
                    <a:pt x="736819" y="199226"/>
                    <a:pt x="710074" y="210305"/>
                    <a:pt x="6821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87338" cy="248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72 28 60 84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8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396220" y="7458445"/>
            <a:ext cx="8115300" cy="741616"/>
            <a:chOff x="0" y="0"/>
            <a:chExt cx="2301308" cy="21030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01308" cy="210305"/>
            </a:xfrm>
            <a:custGeom>
              <a:avLst/>
              <a:gdLst/>
              <a:ahLst/>
              <a:cxnLst/>
              <a:rect l="l" t="t" r="r" b="b"/>
              <a:pathLst>
                <a:path w="2301308" h="210305">
                  <a:moveTo>
                    <a:pt x="48654" y="0"/>
                  </a:moveTo>
                  <a:lnTo>
                    <a:pt x="2252655" y="0"/>
                  </a:lnTo>
                  <a:cubicBezTo>
                    <a:pt x="2279525" y="0"/>
                    <a:pt x="2301308" y="21783"/>
                    <a:pt x="2301308" y="48654"/>
                  </a:cubicBezTo>
                  <a:lnTo>
                    <a:pt x="2301308" y="161651"/>
                  </a:lnTo>
                  <a:cubicBezTo>
                    <a:pt x="2301308" y="188522"/>
                    <a:pt x="2279525" y="210305"/>
                    <a:pt x="2252655" y="210305"/>
                  </a:cubicBezTo>
                  <a:lnTo>
                    <a:pt x="48654" y="210305"/>
                  </a:lnTo>
                  <a:cubicBezTo>
                    <a:pt x="21783" y="210305"/>
                    <a:pt x="0" y="188522"/>
                    <a:pt x="0" y="161651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301308" cy="2484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STUDERENDE.EAAA.DK/UDDANNELSE/SU-OG-SPS-VEJLEDNING/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24687" y="6684673"/>
            <a:ext cx="449835" cy="449835"/>
          </a:xfrm>
          <a:custGeom>
            <a:avLst/>
            <a:gdLst/>
            <a:ahLst/>
            <a:cxnLst/>
            <a:rect l="l" t="t" r="r" b="b"/>
            <a:pathLst>
              <a:path w="449835" h="449835">
                <a:moveTo>
                  <a:pt x="0" y="0"/>
                </a:moveTo>
                <a:lnTo>
                  <a:pt x="449835" y="0"/>
                </a:lnTo>
                <a:lnTo>
                  <a:pt x="449835" y="449835"/>
                </a:lnTo>
                <a:lnTo>
                  <a:pt x="0" y="4498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3" name="Freeform 23"/>
          <p:cNvSpPr/>
          <p:nvPr/>
        </p:nvSpPr>
        <p:spPr>
          <a:xfrm>
            <a:off x="6538396" y="7627450"/>
            <a:ext cx="422415" cy="422415"/>
          </a:xfrm>
          <a:custGeom>
            <a:avLst/>
            <a:gdLst/>
            <a:ahLst/>
            <a:cxnLst/>
            <a:rect l="l" t="t" r="r" b="b"/>
            <a:pathLst>
              <a:path w="422415" h="422415">
                <a:moveTo>
                  <a:pt x="0" y="0"/>
                </a:moveTo>
                <a:lnTo>
                  <a:pt x="422415" y="0"/>
                </a:lnTo>
                <a:lnTo>
                  <a:pt x="422415" y="422415"/>
                </a:lnTo>
                <a:lnTo>
                  <a:pt x="0" y="42241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4" name="Freeform 24"/>
          <p:cNvSpPr/>
          <p:nvPr/>
        </p:nvSpPr>
        <p:spPr>
          <a:xfrm>
            <a:off x="251435" y="1518464"/>
            <a:ext cx="5179368" cy="3749553"/>
          </a:xfrm>
          <a:custGeom>
            <a:avLst/>
            <a:gdLst/>
            <a:ahLst/>
            <a:cxnLst/>
            <a:rect l="l" t="t" r="r" b="b"/>
            <a:pathLst>
              <a:path w="5010617" h="3338324">
                <a:moveTo>
                  <a:pt x="0" y="0"/>
                </a:moveTo>
                <a:lnTo>
                  <a:pt x="5010617" y="0"/>
                </a:lnTo>
                <a:lnTo>
                  <a:pt x="5010617" y="3338323"/>
                </a:lnTo>
                <a:lnTo>
                  <a:pt x="0" y="33383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/>
        </p:spPr>
        <p:txBody>
          <a:bodyPr/>
          <a:lstStyle/>
          <a:p>
            <a:endParaRPr lang="da-DK" dirty="0"/>
          </a:p>
        </p:txBody>
      </p:sp>
      <p:sp>
        <p:nvSpPr>
          <p:cNvPr id="25" name="Freeform 25"/>
          <p:cNvSpPr/>
          <p:nvPr/>
        </p:nvSpPr>
        <p:spPr>
          <a:xfrm>
            <a:off x="182060" y="5681580"/>
            <a:ext cx="5179368" cy="3553731"/>
          </a:xfrm>
          <a:custGeom>
            <a:avLst/>
            <a:gdLst/>
            <a:ahLst/>
            <a:cxnLst/>
            <a:rect l="l" t="t" r="r" b="b"/>
            <a:pathLst>
              <a:path w="5010617" h="3338324">
                <a:moveTo>
                  <a:pt x="0" y="0"/>
                </a:moveTo>
                <a:lnTo>
                  <a:pt x="5010617" y="0"/>
                </a:lnTo>
                <a:lnTo>
                  <a:pt x="5010617" y="3338324"/>
                </a:lnTo>
                <a:lnTo>
                  <a:pt x="0" y="33383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6" name="TextBox 26"/>
          <p:cNvSpPr txBox="1"/>
          <p:nvPr/>
        </p:nvSpPr>
        <p:spPr>
          <a:xfrm>
            <a:off x="6396220" y="1663310"/>
            <a:ext cx="10863080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SU OG SPS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67543" y="8541033"/>
            <a:ext cx="10863080" cy="27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090"/>
              </a:lnSpc>
              <a:spcBef>
                <a:spcPct val="0"/>
              </a:spcBef>
            </a:pPr>
            <a:r>
              <a:rPr lang="en-US" sz="2000" spc="-104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Kig</a:t>
            </a:r>
            <a:r>
              <a:rPr lang="en-US" sz="20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gerne på SU.dk </a:t>
            </a:r>
            <a:r>
              <a:rPr lang="en-US" sz="2000" spc="-104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først</a:t>
            </a:r>
            <a:r>
              <a:rPr lang="en-US" sz="20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, da de </a:t>
            </a:r>
            <a:r>
              <a:rPr lang="en-US" sz="2000" spc="-104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fleste</a:t>
            </a:r>
            <a:r>
              <a:rPr lang="en-US" sz="20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svar</a:t>
            </a:r>
            <a:r>
              <a:rPr lang="en-US" sz="20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  <a:r>
              <a:rPr lang="en-US" sz="2000" spc="-104" dirty="0" err="1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findes</a:t>
            </a:r>
            <a:r>
              <a:rPr lang="en-US" sz="2000" spc="-104" dirty="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der. </a:t>
            </a:r>
          </a:p>
        </p:txBody>
      </p:sp>
      <p:sp>
        <p:nvSpPr>
          <p:cNvPr id="28" name="Freeform 28"/>
          <p:cNvSpPr/>
          <p:nvPr/>
        </p:nvSpPr>
        <p:spPr>
          <a:xfrm>
            <a:off x="16021787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4705590" y="9155337"/>
            <a:ext cx="13483654" cy="28179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4" name="AutoShape 4"/>
          <p:cNvSpPr/>
          <p:nvPr/>
        </p:nvSpPr>
        <p:spPr>
          <a:xfrm flipV="1">
            <a:off x="79941" y="950500"/>
            <a:ext cx="18208059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sp>
        <p:nvSpPr>
          <p:cNvPr id="5" name="AutoShape 5"/>
          <p:cNvSpPr/>
          <p:nvPr/>
        </p:nvSpPr>
        <p:spPr>
          <a:xfrm>
            <a:off x="4606834" y="3081388"/>
            <a:ext cx="13681166" cy="0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a-DK"/>
          </a:p>
        </p:txBody>
      </p:sp>
      <p:grpSp>
        <p:nvGrpSpPr>
          <p:cNvPr id="6" name="Group 6"/>
          <p:cNvGrpSpPr/>
          <p:nvPr/>
        </p:nvGrpSpPr>
        <p:grpSpPr>
          <a:xfrm>
            <a:off x="7780017" y="3439879"/>
            <a:ext cx="4134474" cy="1311316"/>
            <a:chOff x="0" y="-32992"/>
            <a:chExt cx="1172440" cy="3718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61636" cy="333759"/>
            </a:xfrm>
            <a:custGeom>
              <a:avLst/>
              <a:gdLst/>
              <a:ahLst/>
              <a:cxnLst/>
              <a:rect l="l" t="t" r="r" b="b"/>
              <a:pathLst>
                <a:path w="1161636" h="333759">
                  <a:moveTo>
                    <a:pt x="96387" y="0"/>
                  </a:moveTo>
                  <a:lnTo>
                    <a:pt x="1065249" y="0"/>
                  </a:lnTo>
                  <a:cubicBezTo>
                    <a:pt x="1118482" y="0"/>
                    <a:pt x="1161636" y="43154"/>
                    <a:pt x="1161636" y="96387"/>
                  </a:cubicBezTo>
                  <a:lnTo>
                    <a:pt x="1161636" y="237371"/>
                  </a:lnTo>
                  <a:cubicBezTo>
                    <a:pt x="1161636" y="290605"/>
                    <a:pt x="1118482" y="333759"/>
                    <a:pt x="1065249" y="333759"/>
                  </a:cubicBezTo>
                  <a:lnTo>
                    <a:pt x="96387" y="333759"/>
                  </a:lnTo>
                  <a:cubicBezTo>
                    <a:pt x="43154" y="333759"/>
                    <a:pt x="0" y="290605"/>
                    <a:pt x="0" y="237371"/>
                  </a:cubicBezTo>
                  <a:lnTo>
                    <a:pt x="0" y="96387"/>
                  </a:lnTo>
                  <a:cubicBezTo>
                    <a:pt x="0" y="43154"/>
                    <a:pt x="43154" y="0"/>
                    <a:pt x="963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04" y="-32992"/>
              <a:ext cx="1161636" cy="371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SEMESTEROPHOLD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780017" y="4947999"/>
            <a:ext cx="4096375" cy="1176961"/>
            <a:chOff x="0" y="0"/>
            <a:chExt cx="1184497" cy="33375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84497" cy="333759"/>
            </a:xfrm>
            <a:custGeom>
              <a:avLst/>
              <a:gdLst/>
              <a:ahLst/>
              <a:cxnLst/>
              <a:rect l="l" t="t" r="r" b="b"/>
              <a:pathLst>
                <a:path w="1184497" h="333759">
                  <a:moveTo>
                    <a:pt x="94527" y="0"/>
                  </a:moveTo>
                  <a:lnTo>
                    <a:pt x="1089971" y="0"/>
                  </a:lnTo>
                  <a:cubicBezTo>
                    <a:pt x="1142176" y="0"/>
                    <a:pt x="1184497" y="42321"/>
                    <a:pt x="1184497" y="94527"/>
                  </a:cubicBezTo>
                  <a:lnTo>
                    <a:pt x="1184497" y="239232"/>
                  </a:lnTo>
                  <a:cubicBezTo>
                    <a:pt x="1184497" y="291437"/>
                    <a:pt x="1142176" y="333759"/>
                    <a:pt x="1089971" y="333759"/>
                  </a:cubicBezTo>
                  <a:lnTo>
                    <a:pt x="94527" y="333759"/>
                  </a:lnTo>
                  <a:cubicBezTo>
                    <a:pt x="42321" y="333759"/>
                    <a:pt x="0" y="291437"/>
                    <a:pt x="0" y="239232"/>
                  </a:cubicBezTo>
                  <a:lnTo>
                    <a:pt x="0" y="94527"/>
                  </a:lnTo>
                  <a:cubicBezTo>
                    <a:pt x="0" y="42321"/>
                    <a:pt x="42321" y="0"/>
                    <a:pt x="9452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84497" cy="371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SOMMERSKOLE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812217" y="6406768"/>
            <a:ext cx="4102274" cy="1160837"/>
            <a:chOff x="0" y="0"/>
            <a:chExt cx="1163308" cy="3291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63308" cy="329186"/>
            </a:xfrm>
            <a:custGeom>
              <a:avLst/>
              <a:gdLst/>
              <a:ahLst/>
              <a:cxnLst/>
              <a:rect l="l" t="t" r="r" b="b"/>
              <a:pathLst>
                <a:path w="1163308" h="329186">
                  <a:moveTo>
                    <a:pt x="96249" y="0"/>
                  </a:moveTo>
                  <a:lnTo>
                    <a:pt x="1067060" y="0"/>
                  </a:lnTo>
                  <a:cubicBezTo>
                    <a:pt x="1092587" y="0"/>
                    <a:pt x="1117068" y="10140"/>
                    <a:pt x="1135118" y="28191"/>
                  </a:cubicBezTo>
                  <a:cubicBezTo>
                    <a:pt x="1153168" y="46241"/>
                    <a:pt x="1163308" y="70722"/>
                    <a:pt x="1163308" y="96249"/>
                  </a:cubicBezTo>
                  <a:lnTo>
                    <a:pt x="1163308" y="232938"/>
                  </a:lnTo>
                  <a:cubicBezTo>
                    <a:pt x="1163308" y="286094"/>
                    <a:pt x="1120217" y="329186"/>
                    <a:pt x="1067060" y="329186"/>
                  </a:cubicBezTo>
                  <a:lnTo>
                    <a:pt x="96249" y="329186"/>
                  </a:lnTo>
                  <a:cubicBezTo>
                    <a:pt x="43092" y="329186"/>
                    <a:pt x="0" y="286094"/>
                    <a:pt x="0" y="232938"/>
                  </a:cubicBezTo>
                  <a:lnTo>
                    <a:pt x="0" y="96249"/>
                  </a:lnTo>
                  <a:cubicBezTo>
                    <a:pt x="0" y="43092"/>
                    <a:pt x="43092" y="0"/>
                    <a:pt x="9624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63308" cy="3672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2000" spc="-39" dirty="0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PRAKTIK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779148" y="7843241"/>
            <a:ext cx="10827444" cy="137735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2520"/>
              </a:lnSpc>
              <a:spcBef>
                <a:spcPct val="0"/>
              </a:spcBef>
            </a:pPr>
            <a:r>
              <a:rPr lang="en-US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SKRIV TIL </a:t>
            </a:r>
            <a:r>
              <a:rPr lang="en-US" sz="18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SHARON </a:t>
            </a:r>
            <a:r>
              <a:rPr lang="en-US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WILKINS FRA </a:t>
            </a:r>
            <a:r>
              <a:rPr lang="en-US" sz="1800" spc="-39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INTERNATIONALT KONTOR</a:t>
            </a:r>
          </a:p>
        </p:txBody>
      </p:sp>
      <p:sp>
        <p:nvSpPr>
          <p:cNvPr id="18" name="AutoShape 18"/>
          <p:cNvSpPr/>
          <p:nvPr/>
        </p:nvSpPr>
        <p:spPr>
          <a:xfrm>
            <a:off x="5563525" y="8255351"/>
            <a:ext cx="800359" cy="4762"/>
          </a:xfrm>
          <a:prstGeom prst="line">
            <a:avLst/>
          </a:prstGeom>
          <a:ln w="9525" cap="flat">
            <a:solidFill>
              <a:srgbClr val="403E3E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da-DK"/>
          </a:p>
        </p:txBody>
      </p:sp>
      <p:grpSp>
        <p:nvGrpSpPr>
          <p:cNvPr id="19" name="Group 19"/>
          <p:cNvGrpSpPr/>
          <p:nvPr/>
        </p:nvGrpSpPr>
        <p:grpSpPr>
          <a:xfrm>
            <a:off x="251435" y="9507110"/>
            <a:ext cx="542093" cy="540520"/>
            <a:chOff x="0" y="0"/>
            <a:chExt cx="174424" cy="17391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4424" cy="173917"/>
            </a:xfrm>
            <a:custGeom>
              <a:avLst/>
              <a:gdLst/>
              <a:ahLst/>
              <a:cxnLst/>
              <a:rect l="l" t="t" r="r" b="b"/>
              <a:pathLst>
                <a:path w="174424" h="173917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rnd">
              <a:solidFill>
                <a:srgbClr val="403E3E"/>
              </a:solidFill>
              <a:prstDash val="solid"/>
              <a:round/>
            </a:ln>
          </p:spPr>
          <p:txBody>
            <a:bodyPr/>
            <a:lstStyle/>
            <a:p>
              <a:endParaRPr lang="da-DK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9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268200" y="8397590"/>
            <a:ext cx="4219427" cy="397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rejsud@eaaa.dk</a:t>
            </a:r>
          </a:p>
        </p:txBody>
      </p:sp>
      <p:sp>
        <p:nvSpPr>
          <p:cNvPr id="24" name="Freeform 24"/>
          <p:cNvSpPr/>
          <p:nvPr/>
        </p:nvSpPr>
        <p:spPr>
          <a:xfrm>
            <a:off x="13716000" y="8539379"/>
            <a:ext cx="421904" cy="421904"/>
          </a:xfrm>
          <a:custGeom>
            <a:avLst/>
            <a:gdLst/>
            <a:ahLst/>
            <a:cxnLst/>
            <a:rect l="l" t="t" r="r" b="b"/>
            <a:pathLst>
              <a:path w="421904" h="421904">
                <a:moveTo>
                  <a:pt x="0" y="0"/>
                </a:moveTo>
                <a:lnTo>
                  <a:pt x="421904" y="0"/>
                </a:lnTo>
                <a:lnTo>
                  <a:pt x="421904" y="421904"/>
                </a:lnTo>
                <a:lnTo>
                  <a:pt x="0" y="4219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2" name="Freeform 22"/>
          <p:cNvSpPr/>
          <p:nvPr/>
        </p:nvSpPr>
        <p:spPr>
          <a:xfrm>
            <a:off x="69090" y="3081387"/>
            <a:ext cx="6600649" cy="6139207"/>
          </a:xfrm>
          <a:custGeom>
            <a:avLst/>
            <a:gdLst/>
            <a:ahLst/>
            <a:cxnLst/>
            <a:rect l="l" t="t" r="r" b="b"/>
            <a:pathLst>
              <a:path w="6998135" h="6333562">
                <a:moveTo>
                  <a:pt x="0" y="0"/>
                </a:moveTo>
                <a:lnTo>
                  <a:pt x="6998136" y="0"/>
                </a:lnTo>
                <a:lnTo>
                  <a:pt x="6998136" y="6333562"/>
                </a:lnTo>
                <a:lnTo>
                  <a:pt x="0" y="63335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517" r="-29322"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5" name="Freeform 25"/>
          <p:cNvSpPr/>
          <p:nvPr/>
        </p:nvSpPr>
        <p:spPr>
          <a:xfrm>
            <a:off x="15982286" y="9375561"/>
            <a:ext cx="2152549" cy="803618"/>
          </a:xfrm>
          <a:custGeom>
            <a:avLst/>
            <a:gdLst/>
            <a:ahLst/>
            <a:cxnLst/>
            <a:rect l="l" t="t" r="r" b="b"/>
            <a:pathLst>
              <a:path w="2152549" h="803618">
                <a:moveTo>
                  <a:pt x="0" y="0"/>
                </a:moveTo>
                <a:lnTo>
                  <a:pt x="2152549" y="0"/>
                </a:lnTo>
                <a:lnTo>
                  <a:pt x="2152549" y="803619"/>
                </a:lnTo>
                <a:lnTo>
                  <a:pt x="0" y="8036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a-DK"/>
          </a:p>
        </p:txBody>
      </p:sp>
      <p:sp>
        <p:nvSpPr>
          <p:cNvPr id="26" name="TextBox 26"/>
          <p:cNvSpPr txBox="1"/>
          <p:nvPr/>
        </p:nvSpPr>
        <p:spPr>
          <a:xfrm>
            <a:off x="1600200" y="1612746"/>
            <a:ext cx="15656130" cy="875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80"/>
              </a:lnSpc>
              <a:spcBef>
                <a:spcPct val="0"/>
              </a:spcBef>
            </a:pPr>
            <a:r>
              <a:rPr lang="en-US" sz="8000" spc="-176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INTERNATIONALE MULIGHEDER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905561" y="3436280"/>
            <a:ext cx="4152999" cy="1162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079"/>
              </a:lnSpc>
              <a:spcBef>
                <a:spcPct val="0"/>
              </a:spcBef>
            </a:pP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Informationsmøder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</a:t>
            </a: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omkring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</a:t>
            </a: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internationale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</a:t>
            </a: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muligheder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</a:t>
            </a: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annonceres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</a:t>
            </a:r>
            <a:r>
              <a:rPr lang="en-US" sz="2400" spc="-153" dirty="0" err="1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løbende</a:t>
            </a:r>
            <a:r>
              <a:rPr lang="en-US" sz="2400" spc="-153" dirty="0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 på Canvas</a:t>
            </a:r>
          </a:p>
        </p:txBody>
      </p:sp>
      <p:pic>
        <p:nvPicPr>
          <p:cNvPr id="32" name="Billede 31" descr="Et billede, der indeholder kort, kompas&#10;&#10;AI-genereret indhold kan være ukorrekt.">
            <a:extLst>
              <a:ext uri="{FF2B5EF4-FFF2-40B4-BE49-F238E27FC236}">
                <a16:creationId xmlns:a16="http://schemas.microsoft.com/office/drawing/2014/main" id="{2B487B34-A25E-6818-4175-EE3E7D4EF33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3018870" y="4779448"/>
            <a:ext cx="4572000" cy="3048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" name="Tekstfelt 2">
            <a:extLst>
              <a:ext uri="{FF2B5EF4-FFF2-40B4-BE49-F238E27FC236}">
                <a16:creationId xmlns:a16="http://schemas.microsoft.com/office/drawing/2014/main" id="{7F25D9FE-F297-5757-A995-1C08778F4052}"/>
              </a:ext>
            </a:extLst>
          </p:cNvPr>
          <p:cNvSpPr txBox="1"/>
          <p:nvPr/>
        </p:nvSpPr>
        <p:spPr>
          <a:xfrm>
            <a:off x="3270757" y="9536729"/>
            <a:ext cx="133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Læs mere om dine muligheder her: </a:t>
            </a:r>
            <a:r>
              <a:rPr lang="da-DK" sz="2400" dirty="0">
                <a:hlinkClick r:id="rId7"/>
              </a:rPr>
              <a:t>https://studerende.eaaa.dk/uddannelse/rejs-ud</a:t>
            </a:r>
            <a:endParaRPr lang="da-DK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418</Words>
  <Application>Microsoft Office PowerPoint</Application>
  <PresentationFormat>Brugerdefineret</PresentationFormat>
  <Paragraphs>97</Paragraphs>
  <Slides>10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8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10</vt:i4>
      </vt:variant>
    </vt:vector>
  </HeadingPairs>
  <TitlesOfParts>
    <vt:vector size="19" baseType="lpstr">
      <vt:lpstr>Calibri</vt:lpstr>
      <vt:lpstr>Aptos</vt:lpstr>
      <vt:lpstr>Arial Nova Bold</vt:lpstr>
      <vt:lpstr>DM Sans Bold</vt:lpstr>
      <vt:lpstr>Arial Nova Light</vt:lpstr>
      <vt:lpstr>Mukti</vt:lpstr>
      <vt:lpstr>Arial</vt:lpstr>
      <vt:lpstr>Montserrat Light</vt:lpstr>
      <vt:lpstr>Office Theme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brief</dc:title>
  <dc:creator>Anna Skouboe Roesen (studie- og karrierevejleder – asro@eaaa.dk)</dc:creator>
  <cp:lastModifiedBy>Dorte Hedevang (studie- og karrierevejleder – dohe@eaaa.dk)</cp:lastModifiedBy>
  <cp:revision>18</cp:revision>
  <dcterms:created xsi:type="dcterms:W3CDTF">2006-08-16T00:00:00Z</dcterms:created>
  <dcterms:modified xsi:type="dcterms:W3CDTF">2026-08-27T09:23:24Z</dcterms:modified>
  <dc:identifier>DAGqOWlU0Lg</dc:identifier>
</cp:coreProperties>
</file>